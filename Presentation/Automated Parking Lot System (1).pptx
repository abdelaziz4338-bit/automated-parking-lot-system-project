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282F8E-1930-4113-BCE3-EB57A2E631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608B3D-2379-4FC9-98BF-7FD29F3ED8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72A1CE-7BBE-441F-8988-772435231B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370578-3A0D-45D3-A1B1-0D152FD9D6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79F133-FD32-4913-A990-54544A014E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A4E98C-BC32-4F5A-AAA2-1734E66278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293329-5AE1-49F4-B123-33267FC563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069BFD-2A41-4D15-81AA-16B0C45613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973DFA-325F-4737-B6D5-2622ED553D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6C0CCA-2877-4740-91C3-22E364DA17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E7ED13-F884-49C1-A4B3-65D23B08BF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8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39.png"/><Relationship Id="rId15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1.png"/><Relationship Id="rId9" Type="http://schemas.openxmlformats.org/officeDocument/2006/relationships/image" Target="../media/image51.png"/><Relationship Id="rId10" Type="http://schemas.openxmlformats.org/officeDocument/2006/relationships/image" Target="../media/image51.png"/><Relationship Id="rId11" Type="http://schemas.openxmlformats.org/officeDocument/2006/relationships/image" Target="../media/image51.png"/><Relationship Id="rId12" Type="http://schemas.openxmlformats.org/officeDocument/2006/relationships/image" Target="../media/image51.png"/><Relationship Id="rId1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2.png"/><Relationship Id="rId3" Type="http://schemas.openxmlformats.org/officeDocument/2006/relationships/image" Target="../media/image47.png"/><Relationship Id="rId4" Type="http://schemas.openxmlformats.org/officeDocument/2006/relationships/image" Target="../media/image53.png"/><Relationship Id="rId5" Type="http://schemas.openxmlformats.org/officeDocument/2006/relationships/image" Target="../media/image49.png"/><Relationship Id="rId6" Type="http://schemas.openxmlformats.org/officeDocument/2006/relationships/image" Target="../media/image54.png"/><Relationship Id="rId7" Type="http://schemas.openxmlformats.org/officeDocument/2006/relationships/image" Target="../media/image51.png"/><Relationship Id="rId8" Type="http://schemas.openxmlformats.org/officeDocument/2006/relationships/image" Target="../media/image51.png"/><Relationship Id="rId9" Type="http://schemas.openxmlformats.org/officeDocument/2006/relationships/image" Target="../media/image51.png"/><Relationship Id="rId10" Type="http://schemas.openxmlformats.org/officeDocument/2006/relationships/image" Target="../media/image51.png"/><Relationship Id="rId1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2.png"/><Relationship Id="rId3" Type="http://schemas.openxmlformats.org/officeDocument/2006/relationships/image" Target="../media/image47.png"/><Relationship Id="rId4" Type="http://schemas.openxmlformats.org/officeDocument/2006/relationships/image" Target="../media/image56.png"/><Relationship Id="rId5" Type="http://schemas.openxmlformats.org/officeDocument/2006/relationships/image" Target="../media/image49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51.png"/><Relationship Id="rId9" Type="http://schemas.openxmlformats.org/officeDocument/2006/relationships/image" Target="../media/image51.png"/><Relationship Id="rId10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2.png"/><Relationship Id="rId3" Type="http://schemas.openxmlformats.org/officeDocument/2006/relationships/image" Target="../media/image47.png"/><Relationship Id="rId4" Type="http://schemas.openxmlformats.org/officeDocument/2006/relationships/image" Target="../media/image58.png"/><Relationship Id="rId5" Type="http://schemas.openxmlformats.org/officeDocument/2006/relationships/image" Target="../media/image49.png"/><Relationship Id="rId6" Type="http://schemas.openxmlformats.org/officeDocument/2006/relationships/image" Target="../media/image59.png"/><Relationship Id="rId7" Type="http://schemas.openxmlformats.org/officeDocument/2006/relationships/image" Target="../media/image51.png"/><Relationship Id="rId8" Type="http://schemas.openxmlformats.org/officeDocument/2006/relationships/image" Target="../media/image51.png"/><Relationship Id="rId9" Type="http://schemas.openxmlformats.org/officeDocument/2006/relationships/image" Target="../media/image51.png"/><Relationship Id="rId10" Type="http://schemas.openxmlformats.org/officeDocument/2006/relationships/image" Target="../media/image51.png"/><Relationship Id="rId1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2.png"/><Relationship Id="rId3" Type="http://schemas.openxmlformats.org/officeDocument/2006/relationships/image" Target="../media/image47.png"/><Relationship Id="rId4" Type="http://schemas.openxmlformats.org/officeDocument/2006/relationships/image" Target="../media/image60.png"/><Relationship Id="rId5" Type="http://schemas.openxmlformats.org/officeDocument/2006/relationships/image" Target="../media/image49.png"/><Relationship Id="rId6" Type="http://schemas.openxmlformats.org/officeDocument/2006/relationships/image" Target="../media/image61.png"/><Relationship Id="rId7" Type="http://schemas.openxmlformats.org/officeDocument/2006/relationships/image" Target="../media/image51.png"/><Relationship Id="rId8" Type="http://schemas.openxmlformats.org/officeDocument/2006/relationships/image" Target="../media/image51.png"/><Relationship Id="rId9" Type="http://schemas.openxmlformats.org/officeDocument/2006/relationships/image" Target="../media/image51.png"/><Relationship Id="rId10" Type="http://schemas.openxmlformats.org/officeDocument/2006/relationships/image" Target="../media/image51.png"/><Relationship Id="rId1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2" descr="image.png"/>
          <p:cNvPicPr/>
          <p:nvPr/>
        </p:nvPicPr>
        <p:blipFill>
          <a:blip r:embed="rId2"/>
          <a:stretch/>
        </p:blipFill>
        <p:spPr>
          <a:xfrm>
            <a:off x="571680" y="5848200"/>
            <a:ext cx="11048760" cy="5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Picture 3" descr="image.png"/>
          <p:cNvPicPr/>
          <p:nvPr/>
        </p:nvPicPr>
        <p:blipFill>
          <a:blip r:embed="rId3"/>
          <a:stretch/>
        </p:blipFill>
        <p:spPr>
          <a:xfrm>
            <a:off x="571680" y="1752840"/>
            <a:ext cx="1104876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Box 4"/>
          <p:cNvSpPr/>
          <p:nvPr/>
        </p:nvSpPr>
        <p:spPr>
          <a:xfrm>
            <a:off x="571680" y="2238480"/>
            <a:ext cx="11601000" cy="11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Poppins"/>
              </a:rPr>
              <a:t>Automated Parking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4484"/>
              </a:lnSpc>
            </a:pPr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Poppins"/>
              </a:rPr>
              <a:t> Lot System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571680" y="3520440"/>
            <a:ext cx="761976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639"/>
              </a:lnSpc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</a:rPr>
              <a:t>A smart microcontroller-based entry and exit gate management solution powered by </a:t>
            </a:r>
            <a:r>
              <a:rPr lang="en-US" sz="1650" b="1" u="none" strike="noStrike">
                <a:solidFill>
                  <a:srgbClr val="CBD5E1"/>
                </a:solidFill>
                <a:effectLst/>
                <a:uFillTx/>
                <a:latin typeface="Inter"/>
              </a:rPr>
              <a:t>ATmega32 AVR</a:t>
            </a: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Inter"/>
              </a:rPr>
              <a:t>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571680" y="6048360"/>
            <a:ext cx="19238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284C7"/>
                </a:solidFill>
                <a:effectLst/>
                <a:uFillTx/>
                <a:latin typeface="Inter"/>
              </a:rPr>
              <a:t>Team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Inter"/>
              </a:rPr>
              <a:t> </a:t>
            </a: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Inter Medium"/>
              </a:rPr>
              <a:t>Team 4 — Embedded_Elite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3578040" y="6048360"/>
            <a:ext cx="15235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284C7"/>
                </a:solidFill>
                <a:effectLst/>
                <a:uFillTx/>
                <a:latin typeface="Inter"/>
              </a:rPr>
              <a:t>Supervisor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Inter"/>
              </a:rPr>
              <a:t> </a:t>
            </a: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Inter Medium"/>
              </a:rPr>
              <a:t>Eng. Hesham Ahmed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6184800" y="6048360"/>
            <a:ext cx="22762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284C7"/>
                </a:solidFill>
                <a:effectLst/>
                <a:uFillTx/>
                <a:latin typeface="Inter"/>
              </a:rPr>
              <a:t>Microcontroller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Inter"/>
              </a:rPr>
              <a:t> </a:t>
            </a: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Inter Medium"/>
              </a:rPr>
              <a:t>ATmega32 (8-Bit AVR @ 8MHz)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9543600" y="6048360"/>
            <a:ext cx="20761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284C7"/>
                </a:solidFill>
                <a:effectLst/>
                <a:uFillTx/>
                <a:latin typeface="Inter"/>
              </a:rPr>
              <a:t>Course</a:t>
            </a: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Inter"/>
              </a:rPr>
              <a:t> </a:t>
            </a:r>
            <a:r>
              <a:rPr lang="en-US" sz="1200" b="0" u="none" strike="noStrike">
                <a:solidFill>
                  <a:srgbClr val="F8FAFC"/>
                </a:solidFill>
                <a:effectLst/>
                <a:uFillTx/>
                <a:latin typeface="Inter Medium"/>
              </a:rPr>
              <a:t>Embedded Systems Diploma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Picture 2" descr="image.png"/>
          <p:cNvPicPr/>
          <p:nvPr/>
        </p:nvPicPr>
        <p:blipFill>
          <a:blip r:embed="rId2"/>
          <a:stretch/>
        </p:blipFill>
        <p:spPr>
          <a:xfrm>
            <a:off x="571680" y="4357440"/>
            <a:ext cx="11048760" cy="147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Picture 3" descr="image.png"/>
          <p:cNvPicPr/>
          <p:nvPr/>
        </p:nvPicPr>
        <p:blipFill>
          <a:blip r:embed="rId3"/>
          <a:stretch/>
        </p:blipFill>
        <p:spPr>
          <a:xfrm>
            <a:off x="571680" y="2332800"/>
            <a:ext cx="2095200" cy="169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Picture 4" descr="image.png"/>
          <p:cNvPicPr/>
          <p:nvPr/>
        </p:nvPicPr>
        <p:blipFill>
          <a:blip r:embed="rId4"/>
          <a:stretch/>
        </p:blipFill>
        <p:spPr>
          <a:xfrm>
            <a:off x="2809800" y="2332800"/>
            <a:ext cx="2095200" cy="169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Picture 5" descr="image.png"/>
          <p:cNvPicPr/>
          <p:nvPr/>
        </p:nvPicPr>
        <p:blipFill>
          <a:blip r:embed="rId5"/>
          <a:stretch/>
        </p:blipFill>
        <p:spPr>
          <a:xfrm>
            <a:off x="5048280" y="2332800"/>
            <a:ext cx="2095200" cy="169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6" descr="image.png"/>
          <p:cNvPicPr/>
          <p:nvPr/>
        </p:nvPicPr>
        <p:blipFill>
          <a:blip r:embed="rId6"/>
          <a:stretch/>
        </p:blipFill>
        <p:spPr>
          <a:xfrm>
            <a:off x="7286760" y="2332800"/>
            <a:ext cx="2095200" cy="169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7" descr="image.png"/>
          <p:cNvPicPr/>
          <p:nvPr/>
        </p:nvPicPr>
        <p:blipFill>
          <a:blip r:embed="rId7"/>
          <a:stretch/>
        </p:blipFill>
        <p:spPr>
          <a:xfrm>
            <a:off x="9524880" y="2332800"/>
            <a:ext cx="2095200" cy="169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8" descr="image.png"/>
          <p:cNvPicPr/>
          <p:nvPr/>
        </p:nvPicPr>
        <p:blipFill>
          <a:blip r:embed="rId8"/>
          <a:stretch/>
        </p:blipFill>
        <p:spPr>
          <a:xfrm>
            <a:off x="1447920" y="253296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9" descr="image.png"/>
          <p:cNvPicPr/>
          <p:nvPr/>
        </p:nvPicPr>
        <p:blipFill>
          <a:blip r:embed="rId9"/>
          <a:stretch/>
        </p:blipFill>
        <p:spPr>
          <a:xfrm>
            <a:off x="3686040" y="253296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Picture 10" descr="image.png"/>
          <p:cNvPicPr/>
          <p:nvPr/>
        </p:nvPicPr>
        <p:blipFill>
          <a:blip r:embed="rId10"/>
          <a:stretch/>
        </p:blipFill>
        <p:spPr>
          <a:xfrm>
            <a:off x="5924520" y="253296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Picture 11" descr="image.png"/>
          <p:cNvPicPr/>
          <p:nvPr/>
        </p:nvPicPr>
        <p:blipFill>
          <a:blip r:embed="rId11"/>
          <a:stretch/>
        </p:blipFill>
        <p:spPr>
          <a:xfrm>
            <a:off x="8163000" y="253296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Picture 12" descr="image.png"/>
          <p:cNvPicPr/>
          <p:nvPr/>
        </p:nvPicPr>
        <p:blipFill>
          <a:blip r:embed="rId12"/>
          <a:stretch/>
        </p:blipFill>
        <p:spPr>
          <a:xfrm>
            <a:off x="10401480" y="253296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Picture 13" descr="image.png"/>
          <p:cNvPicPr/>
          <p:nvPr/>
        </p:nvPicPr>
        <p:blipFill>
          <a:blip r:embed="rId13"/>
          <a:stretch/>
        </p:blipFill>
        <p:spPr>
          <a:xfrm>
            <a:off x="571680" y="476280"/>
            <a:ext cx="135216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14"/>
          <p:cNvSpPr/>
          <p:nvPr/>
        </p:nvSpPr>
        <p:spPr>
          <a:xfrm>
            <a:off x="571680" y="819000"/>
            <a:ext cx="116010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System Concept &amp; Simple Workflow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5"/>
          <p:cNvSpPr/>
          <p:nvPr/>
        </p:nvSpPr>
        <p:spPr>
          <a:xfrm>
            <a:off x="1181160" y="4605120"/>
            <a:ext cx="1019124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oppins SemiBold"/>
              </a:rPr>
              <a:t>Key System Logic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6"/>
          <p:cNvSpPr/>
          <p:nvPr/>
        </p:nvSpPr>
        <p:spPr>
          <a:xfrm>
            <a:off x="857160" y="503388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160"/>
              </a:lnSpc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If the parking lot reaches maximum capacity (Full), the </a:t>
            </a:r>
            <a:r>
              <a:rPr lang="en-US" sz="1350" b="1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Red LED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 illuminates, LCD displays </a:t>
            </a:r>
            <a:r>
              <a:rPr lang="en-US" sz="1350" b="0" i="1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"PARKING FULL"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, and entry requests are instantly rejected until a car exits (INT1 trigger).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7"/>
          <p:cNvSpPr/>
          <p:nvPr/>
        </p:nvSpPr>
        <p:spPr>
          <a:xfrm>
            <a:off x="678960" y="2990160"/>
            <a:ext cx="18799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Car Arrives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8"/>
          <p:cNvSpPr/>
          <p:nvPr/>
        </p:nvSpPr>
        <p:spPr>
          <a:xfrm>
            <a:off x="723960" y="3304440"/>
            <a:ext cx="179028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363"/>
              </a:lnSpc>
            </a:pPr>
            <a:r>
              <a:rPr lang="en-US" sz="980" b="0" u="none" strike="noStrike">
                <a:solidFill>
                  <a:srgbClr val="64748B"/>
                </a:solidFill>
                <a:effectLst/>
                <a:uFillTx/>
                <a:latin typeface="Inter"/>
              </a:rPr>
              <a:t>Vehicle triggers the entry sensor (External Interrupt INT0).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9"/>
          <p:cNvSpPr/>
          <p:nvPr/>
        </p:nvSpPr>
        <p:spPr>
          <a:xfrm>
            <a:off x="2917440" y="2990160"/>
            <a:ext cx="18799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Check Spots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0"/>
          <p:cNvSpPr/>
          <p:nvPr/>
        </p:nvSpPr>
        <p:spPr>
          <a:xfrm>
            <a:off x="2962440" y="3304440"/>
            <a:ext cx="17902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363"/>
              </a:lnSpc>
            </a:pPr>
            <a:r>
              <a:rPr lang="en-US" sz="980" b="0" u="none" strike="noStrike">
                <a:solidFill>
                  <a:srgbClr val="64748B"/>
                </a:solidFill>
                <a:effectLst/>
                <a:uFillTx/>
                <a:latin typeface="Inter"/>
              </a:rPr>
              <a:t>System checks if available parking spaces &gt; 0 on LCD.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1"/>
          <p:cNvSpPr/>
          <p:nvPr/>
        </p:nvSpPr>
        <p:spPr>
          <a:xfrm>
            <a:off x="5155920" y="2990160"/>
            <a:ext cx="18799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Enter PIN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2"/>
          <p:cNvSpPr/>
          <p:nvPr/>
        </p:nvSpPr>
        <p:spPr>
          <a:xfrm>
            <a:off x="5200560" y="3304440"/>
            <a:ext cx="17902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363"/>
              </a:lnSpc>
            </a:pPr>
            <a:r>
              <a:rPr lang="en-US" sz="980" b="0" u="none" strike="noStrike">
                <a:solidFill>
                  <a:srgbClr val="64748B"/>
                </a:solidFill>
                <a:effectLst/>
                <a:uFillTx/>
                <a:latin typeface="Inter"/>
              </a:rPr>
              <a:t>Driver enters admin security passcode via 4x4 Keypad.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3"/>
          <p:cNvSpPr/>
          <p:nvPr/>
        </p:nvSpPr>
        <p:spPr>
          <a:xfrm>
            <a:off x="7394400" y="2990160"/>
            <a:ext cx="18799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Gate Opens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4"/>
          <p:cNvSpPr/>
          <p:nvPr/>
        </p:nvSpPr>
        <p:spPr>
          <a:xfrm>
            <a:off x="7439040" y="3304440"/>
            <a:ext cx="17902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363"/>
              </a:lnSpc>
            </a:pPr>
            <a:r>
              <a:rPr lang="en-US" sz="980" b="0" u="none" strike="noStrike">
                <a:solidFill>
                  <a:srgbClr val="64748B"/>
                </a:solidFill>
                <a:effectLst/>
                <a:uFillTx/>
                <a:latin typeface="Inter"/>
              </a:rPr>
              <a:t>Timer1 PWM moves Servo Motor to 90° for entry.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5"/>
          <p:cNvSpPr/>
          <p:nvPr/>
        </p:nvSpPr>
        <p:spPr>
          <a:xfrm>
            <a:off x="9632520" y="2990160"/>
            <a:ext cx="18799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Log &amp; Close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6"/>
          <p:cNvSpPr/>
          <p:nvPr/>
        </p:nvSpPr>
        <p:spPr>
          <a:xfrm>
            <a:off x="9677520" y="3304440"/>
            <a:ext cx="17902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363"/>
              </a:lnSpc>
            </a:pPr>
            <a:r>
              <a:rPr lang="en-US" sz="980" b="0" u="none" strike="noStrike">
                <a:solidFill>
                  <a:srgbClr val="64748B"/>
                </a:solidFill>
                <a:effectLst/>
                <a:uFillTx/>
                <a:latin typeface="Inter"/>
              </a:rPr>
              <a:t>Counter updates, UART logs event, gate safely closes.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Picture 27" descr="image.png"/>
          <p:cNvPicPr/>
          <p:nvPr/>
        </p:nvPicPr>
        <p:blipFill>
          <a:blip r:embed="rId14"/>
          <a:stretch/>
        </p:blipFill>
        <p:spPr>
          <a:xfrm>
            <a:off x="857160" y="4657680"/>
            <a:ext cx="209160" cy="209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Picture 2" descr="image.png"/>
          <p:cNvPicPr/>
          <p:nvPr/>
        </p:nvPicPr>
        <p:blipFill>
          <a:blip r:embed="rId2"/>
          <a:stretch/>
        </p:blipFill>
        <p:spPr>
          <a:xfrm>
            <a:off x="571680" y="4991040"/>
            <a:ext cx="11048760" cy="57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Picture 3" descr="image.png"/>
          <p:cNvPicPr/>
          <p:nvPr/>
        </p:nvPicPr>
        <p:blipFill>
          <a:blip r:embed="rId3"/>
          <a:stretch/>
        </p:blipFill>
        <p:spPr>
          <a:xfrm>
            <a:off x="571680" y="2600280"/>
            <a:ext cx="3524040" cy="215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4" descr="image.png"/>
          <p:cNvPicPr/>
          <p:nvPr/>
        </p:nvPicPr>
        <p:blipFill>
          <a:blip r:embed="rId4"/>
          <a:stretch/>
        </p:blipFill>
        <p:spPr>
          <a:xfrm>
            <a:off x="4334040" y="2600280"/>
            <a:ext cx="3524040" cy="215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Picture 5" descr="image.png"/>
          <p:cNvPicPr/>
          <p:nvPr/>
        </p:nvPicPr>
        <p:blipFill>
          <a:blip r:embed="rId5"/>
          <a:stretch/>
        </p:blipFill>
        <p:spPr>
          <a:xfrm>
            <a:off x="8096400" y="2600280"/>
            <a:ext cx="3524040" cy="215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Picture 6" descr="image.png"/>
          <p:cNvPicPr/>
          <p:nvPr/>
        </p:nvPicPr>
        <p:blipFill>
          <a:blip r:embed="rId6"/>
          <a:stretch/>
        </p:blipFill>
        <p:spPr>
          <a:xfrm>
            <a:off x="571680" y="476280"/>
            <a:ext cx="162828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Box 7"/>
          <p:cNvSpPr/>
          <p:nvPr/>
        </p:nvSpPr>
        <p:spPr>
          <a:xfrm>
            <a:off x="571680" y="819000"/>
            <a:ext cx="116010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Layered Software Architecture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8"/>
          <p:cNvSpPr/>
          <p:nvPr/>
        </p:nvSpPr>
        <p:spPr>
          <a:xfrm>
            <a:off x="743040" y="5162400"/>
            <a:ext cx="10705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0160" tIns="0" rIns="0" bIns="0" anchor="t">
            <a:spAutoFit/>
          </a:bodyPr>
          <a:p>
            <a:pPr algn="ctr" defTabSz="457200">
              <a:lnSpc>
                <a:spcPts val="1800"/>
              </a:lnSpc>
            </a:pPr>
            <a:r>
              <a:rPr lang="en-US" sz="1130" b="0" u="none" strike="noStrike">
                <a:solidFill>
                  <a:srgbClr val="334155"/>
                </a:solidFill>
                <a:effectLst/>
                <a:uFillTx/>
                <a:latin typeface="Inter SemiBold"/>
              </a:rPr>
              <a:t>Includes Modular Common Utilities: STD_TYPES.h, BIT_MATH.h, and Common_Macros.h.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9"/>
          <p:cNvSpPr/>
          <p:nvPr/>
        </p:nvSpPr>
        <p:spPr>
          <a:xfrm>
            <a:off x="1171440" y="2876400"/>
            <a:ext cx="267624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oppins SemiBold"/>
              </a:rPr>
              <a:t>APP Layer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819000" y="3305160"/>
            <a:ext cx="302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High-level business logic controlling state transitions: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1"/>
          <p:cNvSpPr/>
          <p:nvPr/>
        </p:nvSpPr>
        <p:spPr>
          <a:xfrm>
            <a:off x="4905360" y="2876400"/>
            <a:ext cx="27046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oppins SemiBold"/>
              </a:rPr>
              <a:t>HAL Layer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2"/>
          <p:cNvSpPr/>
          <p:nvPr/>
        </p:nvSpPr>
        <p:spPr>
          <a:xfrm>
            <a:off x="4581360" y="3305160"/>
            <a:ext cx="3028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Hardware Abstraction Drivers for peripherals: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3"/>
          <p:cNvSpPr/>
          <p:nvPr/>
        </p:nvSpPr>
        <p:spPr>
          <a:xfrm>
            <a:off x="8667720" y="2876400"/>
            <a:ext cx="270468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oppins SemiBold"/>
              </a:rPr>
              <a:t>MCAL Layer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4"/>
          <p:cNvSpPr/>
          <p:nvPr/>
        </p:nvSpPr>
        <p:spPr>
          <a:xfrm>
            <a:off x="8344080" y="3305160"/>
            <a:ext cx="302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13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Direct register-level AVR peripheral drivers: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Picture 15" descr="image.png"/>
          <p:cNvPicPr/>
          <p:nvPr/>
        </p:nvPicPr>
        <p:blipFill>
          <a:blip r:embed="rId7"/>
          <a:stretch/>
        </p:blipFill>
        <p:spPr>
          <a:xfrm>
            <a:off x="2928600" y="5200560"/>
            <a:ext cx="12348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Picture 16" descr="image.png"/>
          <p:cNvPicPr/>
          <p:nvPr/>
        </p:nvPicPr>
        <p:blipFill>
          <a:blip r:embed="rId8"/>
          <a:stretch/>
        </p:blipFill>
        <p:spPr>
          <a:xfrm>
            <a:off x="819000" y="2928960"/>
            <a:ext cx="237600" cy="20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Box 17"/>
          <p:cNvSpPr/>
          <p:nvPr/>
        </p:nvSpPr>
        <p:spPr>
          <a:xfrm>
            <a:off x="933480" y="3843360"/>
            <a:ext cx="75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8"/>
          <p:cNvSpPr/>
          <p:nvPr/>
        </p:nvSpPr>
        <p:spPr>
          <a:xfrm>
            <a:off x="1009800" y="3857760"/>
            <a:ext cx="2838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Parking Manager State Machine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9"/>
          <p:cNvSpPr/>
          <p:nvPr/>
        </p:nvSpPr>
        <p:spPr>
          <a:xfrm>
            <a:off x="933480" y="4005360"/>
            <a:ext cx="75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0"/>
          <p:cNvSpPr/>
          <p:nvPr/>
        </p:nvSpPr>
        <p:spPr>
          <a:xfrm>
            <a:off x="1009800" y="4019400"/>
            <a:ext cx="2838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Spot Counter &amp; Vehicle Manager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1"/>
          <p:cNvSpPr/>
          <p:nvPr/>
        </p:nvSpPr>
        <p:spPr>
          <a:xfrm>
            <a:off x="933480" y="4167360"/>
            <a:ext cx="75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2"/>
          <p:cNvSpPr/>
          <p:nvPr/>
        </p:nvSpPr>
        <p:spPr>
          <a:xfrm>
            <a:off x="1009800" y="4181400"/>
            <a:ext cx="2838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Security Password Verification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Picture 23" descr="image.png"/>
          <p:cNvPicPr/>
          <p:nvPr/>
        </p:nvPicPr>
        <p:blipFill>
          <a:blip r:embed="rId9"/>
          <a:stretch/>
        </p:blipFill>
        <p:spPr>
          <a:xfrm>
            <a:off x="4581360" y="2928960"/>
            <a:ext cx="209160" cy="20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Box 24"/>
          <p:cNvSpPr/>
          <p:nvPr/>
        </p:nvSpPr>
        <p:spPr>
          <a:xfrm>
            <a:off x="4695840" y="3843360"/>
            <a:ext cx="75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5"/>
          <p:cNvSpPr/>
          <p:nvPr/>
        </p:nvSpPr>
        <p:spPr>
          <a:xfrm>
            <a:off x="4772160" y="3857760"/>
            <a:ext cx="2838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LCD 16x2 Display Driver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6"/>
          <p:cNvSpPr/>
          <p:nvPr/>
        </p:nvSpPr>
        <p:spPr>
          <a:xfrm>
            <a:off x="4695840" y="4005360"/>
            <a:ext cx="75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7"/>
          <p:cNvSpPr/>
          <p:nvPr/>
        </p:nvSpPr>
        <p:spPr>
          <a:xfrm>
            <a:off x="4772160" y="4019400"/>
            <a:ext cx="2838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4x4 Matrix Keypad Driver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28"/>
          <p:cNvSpPr/>
          <p:nvPr/>
        </p:nvSpPr>
        <p:spPr>
          <a:xfrm>
            <a:off x="4695840" y="4167360"/>
            <a:ext cx="75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9"/>
          <p:cNvSpPr/>
          <p:nvPr/>
        </p:nvSpPr>
        <p:spPr>
          <a:xfrm>
            <a:off x="4772160" y="4181400"/>
            <a:ext cx="2838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SG90 Servo Motor Driver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30"/>
          <p:cNvSpPr/>
          <p:nvPr/>
        </p:nvSpPr>
        <p:spPr>
          <a:xfrm>
            <a:off x="4695840" y="4329000"/>
            <a:ext cx="75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31"/>
          <p:cNvSpPr/>
          <p:nvPr/>
        </p:nvSpPr>
        <p:spPr>
          <a:xfrm>
            <a:off x="4772160" y="4343400"/>
            <a:ext cx="2838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LED &amp; Button Drivers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Picture 32" descr="image.png"/>
          <p:cNvPicPr/>
          <p:nvPr/>
        </p:nvPicPr>
        <p:blipFill>
          <a:blip r:embed="rId10"/>
          <a:stretch/>
        </p:blipFill>
        <p:spPr>
          <a:xfrm>
            <a:off x="8344080" y="2928960"/>
            <a:ext cx="209160" cy="20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Box 33"/>
          <p:cNvSpPr/>
          <p:nvPr/>
        </p:nvSpPr>
        <p:spPr>
          <a:xfrm>
            <a:off x="8458200" y="3614760"/>
            <a:ext cx="75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34"/>
          <p:cNvSpPr/>
          <p:nvPr/>
        </p:nvSpPr>
        <p:spPr>
          <a:xfrm>
            <a:off x="8534520" y="3629160"/>
            <a:ext cx="2838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DIO Driver (Digital Inputs/Outputs)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5"/>
          <p:cNvSpPr/>
          <p:nvPr/>
        </p:nvSpPr>
        <p:spPr>
          <a:xfrm>
            <a:off x="8458200" y="3776760"/>
            <a:ext cx="75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36"/>
          <p:cNvSpPr/>
          <p:nvPr/>
        </p:nvSpPr>
        <p:spPr>
          <a:xfrm>
            <a:off x="8534520" y="3790800"/>
            <a:ext cx="2838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EXTI Driver (External Interrupts)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7"/>
          <p:cNvSpPr/>
          <p:nvPr/>
        </p:nvSpPr>
        <p:spPr>
          <a:xfrm>
            <a:off x="8458200" y="3938760"/>
            <a:ext cx="75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8"/>
          <p:cNvSpPr/>
          <p:nvPr/>
        </p:nvSpPr>
        <p:spPr>
          <a:xfrm>
            <a:off x="8534520" y="3952800"/>
            <a:ext cx="2838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TIMER1 Driver (16-bit Fast PWM)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39"/>
          <p:cNvSpPr/>
          <p:nvPr/>
        </p:nvSpPr>
        <p:spPr>
          <a:xfrm>
            <a:off x="8458200" y="4100400"/>
            <a:ext cx="759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40"/>
          <p:cNvSpPr/>
          <p:nvPr/>
        </p:nvSpPr>
        <p:spPr>
          <a:xfrm>
            <a:off x="8534520" y="4114800"/>
            <a:ext cx="283824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UART Driver (Serial Logging)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Picture 2" descr="image.png"/>
          <p:cNvPicPr/>
          <p:nvPr/>
        </p:nvPicPr>
        <p:blipFill>
          <a:blip r:embed="rId2"/>
          <a:stretch/>
        </p:blipFill>
        <p:spPr>
          <a:xfrm>
            <a:off x="571680" y="2538360"/>
            <a:ext cx="5428800" cy="144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Picture 3" descr="image.png"/>
          <p:cNvPicPr/>
          <p:nvPr/>
        </p:nvPicPr>
        <p:blipFill>
          <a:blip r:embed="rId3"/>
          <a:stretch/>
        </p:blipFill>
        <p:spPr>
          <a:xfrm>
            <a:off x="6191280" y="2538360"/>
            <a:ext cx="5428800" cy="144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Picture 4" descr="image.png"/>
          <p:cNvPicPr/>
          <p:nvPr/>
        </p:nvPicPr>
        <p:blipFill>
          <a:blip r:embed="rId4"/>
          <a:stretch/>
        </p:blipFill>
        <p:spPr>
          <a:xfrm>
            <a:off x="571680" y="4176720"/>
            <a:ext cx="5428800" cy="144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Picture 5" descr="image.png"/>
          <p:cNvPicPr/>
          <p:nvPr/>
        </p:nvPicPr>
        <p:blipFill>
          <a:blip r:embed="rId5"/>
          <a:stretch/>
        </p:blipFill>
        <p:spPr>
          <a:xfrm>
            <a:off x="6191280" y="4176720"/>
            <a:ext cx="5428800" cy="144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Picture 6" descr="image.png"/>
          <p:cNvPicPr/>
          <p:nvPr/>
        </p:nvPicPr>
        <p:blipFill>
          <a:blip r:embed="rId6"/>
          <a:stretch/>
        </p:blipFill>
        <p:spPr>
          <a:xfrm>
            <a:off x="819000" y="2786040"/>
            <a:ext cx="952200" cy="95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Picture 7" descr="image.png"/>
          <p:cNvPicPr/>
          <p:nvPr/>
        </p:nvPicPr>
        <p:blipFill>
          <a:blip r:embed="rId7"/>
          <a:stretch/>
        </p:blipFill>
        <p:spPr>
          <a:xfrm>
            <a:off x="6438960" y="2786040"/>
            <a:ext cx="952200" cy="95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Picture 8" descr="image.png"/>
          <p:cNvPicPr/>
          <p:nvPr/>
        </p:nvPicPr>
        <p:blipFill>
          <a:blip r:embed="rId8"/>
          <a:stretch/>
        </p:blipFill>
        <p:spPr>
          <a:xfrm>
            <a:off x="819000" y="4424400"/>
            <a:ext cx="952200" cy="95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Picture 9" descr="image.png"/>
          <p:cNvPicPr/>
          <p:nvPr/>
        </p:nvPicPr>
        <p:blipFill>
          <a:blip r:embed="rId9"/>
          <a:stretch/>
        </p:blipFill>
        <p:spPr>
          <a:xfrm>
            <a:off x="6438960" y="4424400"/>
            <a:ext cx="952200" cy="95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Picture 10" descr="image.png"/>
          <p:cNvPicPr/>
          <p:nvPr/>
        </p:nvPicPr>
        <p:blipFill>
          <a:blip r:embed="rId10"/>
          <a:stretch/>
        </p:blipFill>
        <p:spPr>
          <a:xfrm>
            <a:off x="571680" y="476280"/>
            <a:ext cx="209520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Box 11"/>
          <p:cNvSpPr/>
          <p:nvPr/>
        </p:nvSpPr>
        <p:spPr>
          <a:xfrm>
            <a:off x="571680" y="819000"/>
            <a:ext cx="116010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Main Hardware Components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Picture 12" descr="image.png"/>
          <p:cNvPicPr/>
          <p:nvPr/>
        </p:nvPicPr>
        <p:blipFill>
          <a:blip r:embed="rId11"/>
          <a:stretch/>
        </p:blipFill>
        <p:spPr>
          <a:xfrm>
            <a:off x="828720" y="2795760"/>
            <a:ext cx="933120" cy="93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TextBox 13"/>
          <p:cNvSpPr/>
          <p:nvPr/>
        </p:nvSpPr>
        <p:spPr>
          <a:xfrm>
            <a:off x="1914480" y="2964240"/>
            <a:ext cx="4030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ATmega32 MCU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14"/>
          <p:cNvSpPr/>
          <p:nvPr/>
        </p:nvSpPr>
        <p:spPr>
          <a:xfrm>
            <a:off x="1914480" y="3164400"/>
            <a:ext cx="38383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59"/>
              </a:lnSpc>
            </a:pPr>
            <a:r>
              <a:rPr lang="en-US" sz="98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Main 8-bit AVR microcontroller running at 8MHz, executing core logic &amp; peripheral timing.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Picture 15" descr="image.png"/>
          <p:cNvPicPr/>
          <p:nvPr/>
        </p:nvPicPr>
        <p:blipFill>
          <a:blip r:embed="rId12"/>
          <a:stretch/>
        </p:blipFill>
        <p:spPr>
          <a:xfrm>
            <a:off x="6448320" y="2795760"/>
            <a:ext cx="933120" cy="93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Box 16"/>
          <p:cNvSpPr/>
          <p:nvPr/>
        </p:nvSpPr>
        <p:spPr>
          <a:xfrm>
            <a:off x="7534440" y="2964240"/>
            <a:ext cx="4030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LCD Display 16x2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7"/>
          <p:cNvSpPr/>
          <p:nvPr/>
        </p:nvSpPr>
        <p:spPr>
          <a:xfrm>
            <a:off x="7534440" y="3164400"/>
            <a:ext cx="38383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59"/>
              </a:lnSpc>
            </a:pPr>
            <a:r>
              <a:rPr lang="en-US" sz="98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Real-time user interface showing available parking spots, system status &amp; passcode prompts.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Picture 18" descr="image.png"/>
          <p:cNvPicPr/>
          <p:nvPr/>
        </p:nvPicPr>
        <p:blipFill>
          <a:blip r:embed="rId13"/>
          <a:stretch/>
        </p:blipFill>
        <p:spPr>
          <a:xfrm>
            <a:off x="828720" y="4433760"/>
            <a:ext cx="933120" cy="93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Box 19"/>
          <p:cNvSpPr/>
          <p:nvPr/>
        </p:nvSpPr>
        <p:spPr>
          <a:xfrm>
            <a:off x="1914480" y="4602600"/>
            <a:ext cx="4030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4x4 Matrix Keypad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20"/>
          <p:cNvSpPr/>
          <p:nvPr/>
        </p:nvSpPr>
        <p:spPr>
          <a:xfrm>
            <a:off x="1914480" y="4802400"/>
            <a:ext cx="38383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59"/>
              </a:lnSpc>
            </a:pPr>
            <a:r>
              <a:rPr lang="en-US" sz="98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Security passcode input for driver authentication &amp; admin system maintenance mode.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Picture 21" descr="image.png"/>
          <p:cNvPicPr/>
          <p:nvPr/>
        </p:nvPicPr>
        <p:blipFill>
          <a:blip r:embed="rId14"/>
          <a:stretch/>
        </p:blipFill>
        <p:spPr>
          <a:xfrm>
            <a:off x="6448320" y="4433760"/>
            <a:ext cx="933120" cy="93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Box 22"/>
          <p:cNvSpPr/>
          <p:nvPr/>
        </p:nvSpPr>
        <p:spPr>
          <a:xfrm>
            <a:off x="7534440" y="4602600"/>
            <a:ext cx="4030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SG90 Servo Motors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23"/>
          <p:cNvSpPr/>
          <p:nvPr/>
        </p:nvSpPr>
        <p:spPr>
          <a:xfrm>
            <a:off x="7534440" y="4802400"/>
            <a:ext cx="38383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559"/>
              </a:lnSpc>
            </a:pPr>
            <a:r>
              <a:rPr lang="en-US" sz="98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Controls physical entry &amp; exit gate barriers via Timer1 Fast PWM signal generation.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1" descr="image.png"/>
          <p:cNvPicPr/>
          <p:nvPr/>
        </p:nvPicPr>
        <p:blipFill>
          <a:blip r:embed="rId1"/>
          <a:stretch/>
        </p:blipFill>
        <p:spPr>
          <a:xfrm>
            <a:off x="228600" y="936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" name="Picture 3" descr="image.png"/>
          <p:cNvPicPr/>
          <p:nvPr/>
        </p:nvPicPr>
        <p:blipFill>
          <a:blip r:embed="rId2"/>
          <a:stretch/>
        </p:blipFill>
        <p:spPr>
          <a:xfrm>
            <a:off x="6553440" y="2899800"/>
            <a:ext cx="5333760" cy="236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Picture 4" descr="image.png"/>
          <p:cNvPicPr/>
          <p:nvPr/>
        </p:nvPicPr>
        <p:blipFill>
          <a:blip r:embed="rId3"/>
          <a:stretch/>
        </p:blipFill>
        <p:spPr>
          <a:xfrm>
            <a:off x="571680" y="476280"/>
            <a:ext cx="174276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Box 5"/>
          <p:cNvSpPr/>
          <p:nvPr/>
        </p:nvSpPr>
        <p:spPr>
          <a:xfrm>
            <a:off x="571680" y="819000"/>
            <a:ext cx="116010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Proteus Schematic Simulation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Picture 6" descr="image.png"/>
          <p:cNvPicPr/>
          <p:nvPr/>
        </p:nvPicPr>
        <p:blipFill>
          <a:blip r:embed="rId4"/>
          <a:stretch/>
        </p:blipFill>
        <p:spPr>
          <a:xfrm>
            <a:off x="590400" y="2004840"/>
            <a:ext cx="5295600" cy="415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Box 7"/>
          <p:cNvSpPr/>
          <p:nvPr/>
        </p:nvSpPr>
        <p:spPr>
          <a:xfrm>
            <a:off x="6886440" y="3147480"/>
            <a:ext cx="448596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oppins SemiBold"/>
              </a:rPr>
              <a:t>Pin Interfacing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Picture 8" descr="image.png"/>
          <p:cNvPicPr/>
          <p:nvPr/>
        </p:nvPicPr>
        <p:blipFill>
          <a:blip r:embed="rId5"/>
          <a:stretch/>
        </p:blipFill>
        <p:spPr>
          <a:xfrm>
            <a:off x="6534000" y="3199680"/>
            <a:ext cx="237600" cy="20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TextBox 9"/>
          <p:cNvSpPr/>
          <p:nvPr/>
        </p:nvSpPr>
        <p:spPr>
          <a:xfrm>
            <a:off x="6648480" y="3576960"/>
            <a:ext cx="759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0"/>
          <p:cNvSpPr/>
          <p:nvPr/>
        </p:nvSpPr>
        <p:spPr>
          <a:xfrm>
            <a:off x="6724800" y="3575880"/>
            <a:ext cx="464796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ts val="1888"/>
              </a:lnSpc>
            </a:pPr>
            <a:r>
              <a:rPr lang="en-US" sz="1050" b="1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PORTA (PA0-PA7):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 LCD 8-bit Data Bus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1"/>
          <p:cNvSpPr/>
          <p:nvPr/>
        </p:nvSpPr>
        <p:spPr>
          <a:xfrm>
            <a:off x="6648480" y="3817080"/>
            <a:ext cx="759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12"/>
          <p:cNvSpPr/>
          <p:nvPr/>
        </p:nvSpPr>
        <p:spPr>
          <a:xfrm>
            <a:off x="6724800" y="3816000"/>
            <a:ext cx="464796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ts val="1888"/>
              </a:lnSpc>
            </a:pPr>
            <a:r>
              <a:rPr lang="en-US" sz="1050" b="1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PORTB (PB0-PB2):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 LCD Control (RS, RW, EN)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3"/>
          <p:cNvSpPr/>
          <p:nvPr/>
        </p:nvSpPr>
        <p:spPr>
          <a:xfrm>
            <a:off x="6648480" y="4056840"/>
            <a:ext cx="759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14"/>
          <p:cNvSpPr/>
          <p:nvPr/>
        </p:nvSpPr>
        <p:spPr>
          <a:xfrm>
            <a:off x="6724800" y="4055760"/>
            <a:ext cx="464796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ts val="1888"/>
              </a:lnSpc>
            </a:pPr>
            <a:r>
              <a:rPr lang="en-US" sz="1050" b="1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PORTC (PC0-PC7):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 4x4 Matrix Keypad Rows/Cols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5"/>
          <p:cNvSpPr/>
          <p:nvPr/>
        </p:nvSpPr>
        <p:spPr>
          <a:xfrm>
            <a:off x="6648480" y="4296600"/>
            <a:ext cx="759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16"/>
          <p:cNvSpPr/>
          <p:nvPr/>
        </p:nvSpPr>
        <p:spPr>
          <a:xfrm>
            <a:off x="6724800" y="4295880"/>
            <a:ext cx="464796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ts val="1888"/>
              </a:lnSpc>
            </a:pPr>
            <a:r>
              <a:rPr lang="en-US" sz="1050" b="1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PORTD (PD2, PD3):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 Entry (INT0) &amp; Exit (INT1) Sensors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17"/>
          <p:cNvSpPr/>
          <p:nvPr/>
        </p:nvSpPr>
        <p:spPr>
          <a:xfrm>
            <a:off x="6648480" y="4536720"/>
            <a:ext cx="759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8"/>
          <p:cNvSpPr/>
          <p:nvPr/>
        </p:nvSpPr>
        <p:spPr>
          <a:xfrm>
            <a:off x="6724800" y="4535640"/>
            <a:ext cx="464796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ts val="1888"/>
              </a:lnSpc>
            </a:pPr>
            <a:r>
              <a:rPr lang="en-US" sz="1050" b="1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PORTD (PD5, PD6):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 Timer1 PWM Servo Gates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9"/>
          <p:cNvSpPr/>
          <p:nvPr/>
        </p:nvSpPr>
        <p:spPr>
          <a:xfrm>
            <a:off x="6648480" y="4776480"/>
            <a:ext cx="7596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20"/>
          <p:cNvSpPr/>
          <p:nvPr/>
        </p:nvSpPr>
        <p:spPr>
          <a:xfrm>
            <a:off x="6724800" y="4775760"/>
            <a:ext cx="464796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0" rIns="0" bIns="0" anchor="t">
            <a:spAutoFit/>
          </a:bodyPr>
          <a:p>
            <a:pPr defTabSz="457200">
              <a:lnSpc>
                <a:spcPts val="1888"/>
              </a:lnSpc>
            </a:pPr>
            <a:r>
              <a:rPr lang="en-US" sz="1050" b="1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PORTD (PD0, PD1):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 UART Virtual Terminal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" name=""/>
          <p:cNvPicPr/>
          <p:nvPr/>
        </p:nvPicPr>
        <p:blipFill>
          <a:blip r:embed="rId6"/>
          <a:stretch/>
        </p:blipFill>
        <p:spPr>
          <a:xfrm rot="21597000">
            <a:off x="230400" y="1424520"/>
            <a:ext cx="6113520" cy="4169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" name="Picture 2" descr="image.png"/>
          <p:cNvPicPr/>
          <p:nvPr/>
        </p:nvPicPr>
        <p:blipFill>
          <a:blip r:embed="rId2"/>
          <a:stretch/>
        </p:blipFill>
        <p:spPr>
          <a:xfrm>
            <a:off x="571680" y="1781280"/>
            <a:ext cx="11048760" cy="460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Picture 3" descr="image.png"/>
          <p:cNvPicPr/>
          <p:nvPr/>
        </p:nvPicPr>
        <p:blipFill>
          <a:blip r:embed="rId3"/>
          <a:stretch/>
        </p:blipFill>
        <p:spPr>
          <a:xfrm>
            <a:off x="866880" y="2933640"/>
            <a:ext cx="10458000" cy="238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Picture 4" descr="image.png"/>
          <p:cNvPicPr/>
          <p:nvPr/>
        </p:nvPicPr>
        <p:blipFill>
          <a:blip r:embed="rId4"/>
          <a:stretch/>
        </p:blipFill>
        <p:spPr>
          <a:xfrm>
            <a:off x="866880" y="2076480"/>
            <a:ext cx="666360" cy="66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Picture 5" descr="image.png"/>
          <p:cNvPicPr/>
          <p:nvPr/>
        </p:nvPicPr>
        <p:blipFill>
          <a:blip r:embed="rId5"/>
          <a:stretch/>
        </p:blipFill>
        <p:spPr>
          <a:xfrm>
            <a:off x="571680" y="476280"/>
            <a:ext cx="160920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Box 6"/>
          <p:cNvSpPr/>
          <p:nvPr/>
        </p:nvSpPr>
        <p:spPr>
          <a:xfrm>
            <a:off x="571680" y="819000"/>
            <a:ext cx="116010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Member Work: Abdulrahman Ali Abdelaziz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7"/>
          <p:cNvSpPr/>
          <p:nvPr/>
        </p:nvSpPr>
        <p:spPr>
          <a:xfrm>
            <a:off x="6800760" y="5924520"/>
            <a:ext cx="45241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i="1" u="none" strike="noStrike">
                <a:solidFill>
                  <a:srgbClr val="64748B"/>
                </a:solidFill>
                <a:effectLst/>
                <a:uFillTx/>
                <a:latin typeface="Inter"/>
              </a:rPr>
              <a:t> Discusses: System Architecture, State Machine &amp; Keypad Security Logic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8"/>
          <p:cNvSpPr/>
          <p:nvPr/>
        </p:nvSpPr>
        <p:spPr>
          <a:xfrm>
            <a:off x="1438200" y="3181320"/>
            <a:ext cx="96390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oppins SemiBold"/>
              </a:rPr>
              <a:t>Key Project Contributions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9"/>
          <p:cNvSpPr/>
          <p:nvPr/>
        </p:nvSpPr>
        <p:spPr>
          <a:xfrm>
            <a:off x="1724040" y="2133720"/>
            <a:ext cx="37501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Abdulrahman Ali Abdelaziz Ali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0"/>
          <p:cNvSpPr/>
          <p:nvPr/>
        </p:nvSpPr>
        <p:spPr>
          <a:xfrm>
            <a:off x="1724040" y="2505240"/>
            <a:ext cx="357156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0284C7"/>
                </a:solidFill>
                <a:effectLst/>
                <a:uFillTx/>
                <a:latin typeface="Inter SemiBold"/>
              </a:rPr>
              <a:t>TEAM LEADER &amp; MCAL/HAL DEVELOPER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Picture 11" descr="image.png"/>
          <p:cNvPicPr/>
          <p:nvPr/>
        </p:nvPicPr>
        <p:blipFill>
          <a:blip r:embed="rId6"/>
          <a:stretch/>
        </p:blipFill>
        <p:spPr>
          <a:xfrm>
            <a:off x="1114560" y="3233880"/>
            <a:ext cx="209160" cy="20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Box 12"/>
          <p:cNvSpPr/>
          <p:nvPr/>
        </p:nvSpPr>
        <p:spPr>
          <a:xfrm>
            <a:off x="1380960" y="3638520"/>
            <a:ext cx="9696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Project Architecture &amp; APP Layer: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Designed overall state machine logic (INIT, IDLE, ENTRY, EXIT, FULL, ADMIN).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3"/>
          <p:cNvSpPr/>
          <p:nvPr/>
        </p:nvSpPr>
        <p:spPr>
          <a:xfrm>
            <a:off x="1380960" y="3995640"/>
            <a:ext cx="9696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DIO Driver: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Implemented low-level Digital Input/Output port manipulation functions.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4"/>
          <p:cNvSpPr/>
          <p:nvPr/>
        </p:nvSpPr>
        <p:spPr>
          <a:xfrm>
            <a:off x="1380960" y="4352760"/>
            <a:ext cx="9696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Keypad Driver: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Developed matrix scan routine for security passcode verification.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5"/>
          <p:cNvSpPr/>
          <p:nvPr/>
        </p:nvSpPr>
        <p:spPr>
          <a:xfrm>
            <a:off x="1380960" y="4710240"/>
            <a:ext cx="96962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Integration &amp; Testing: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Led GitHub repository management, Proteus simulation assembly, and hardware debugging.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LCD Driver: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Wrote 16x2 character LCD driver in 8-bit mode for displaying live counter &amp; user messages.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Picture 16" descr="image.png"/>
          <p:cNvPicPr/>
          <p:nvPr/>
        </p:nvPicPr>
        <p:blipFill>
          <a:blip r:embed="rId7"/>
          <a:stretch/>
        </p:blipFill>
        <p:spPr>
          <a:xfrm>
            <a:off x="1114560" y="3657600"/>
            <a:ext cx="11412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Picture 17" descr="image.png"/>
          <p:cNvPicPr/>
          <p:nvPr/>
        </p:nvPicPr>
        <p:blipFill>
          <a:blip r:embed="rId8"/>
          <a:stretch/>
        </p:blipFill>
        <p:spPr>
          <a:xfrm>
            <a:off x="1114560" y="4014720"/>
            <a:ext cx="11412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Picture 18" descr="image.png"/>
          <p:cNvPicPr/>
          <p:nvPr/>
        </p:nvPicPr>
        <p:blipFill>
          <a:blip r:embed="rId9"/>
          <a:stretch/>
        </p:blipFill>
        <p:spPr>
          <a:xfrm>
            <a:off x="1114560" y="4371840"/>
            <a:ext cx="11412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Picture 19"/>
          <p:cNvSpPr txBox="1"/>
          <p:nvPr/>
        </p:nvSpPr>
        <p:spPr>
          <a:xfrm>
            <a:off x="1114560" y="4729320"/>
            <a:ext cx="114120" cy="142560"/>
          </a:xfrm>
          <a:prstGeom prst="rect">
            <a:avLst/>
          </a:prstGeom>
          <a:blipFill rotWithShape="0">
            <a:blip r:embed="rId10"/>
            <a:stretch/>
          </a:blipFill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br>
              <a:rPr sz="1800"/>
            </a:b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icture 14"/>
          <p:cNvSpPr txBox="1"/>
          <p:nvPr/>
        </p:nvSpPr>
        <p:spPr>
          <a:xfrm>
            <a:off x="1114920" y="4729320"/>
            <a:ext cx="114120" cy="142560"/>
          </a:xfrm>
          <a:prstGeom prst="rect">
            <a:avLst/>
          </a:prstGeom>
          <a:blipFill rotWithShape="0">
            <a:blip r:embed="rId11"/>
            <a:stretch/>
          </a:blipFill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br>
              <a:rPr sz="1800"/>
            </a:b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Picture 20" descr="image.png"/>
          <p:cNvPicPr/>
          <p:nvPr/>
        </p:nvPicPr>
        <p:blipFill>
          <a:blip r:embed="rId12"/>
          <a:stretch/>
        </p:blipFill>
        <p:spPr>
          <a:xfrm>
            <a:off x="1114920" y="4371840"/>
            <a:ext cx="114120" cy="142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Picture 2" descr="image.png"/>
          <p:cNvPicPr/>
          <p:nvPr/>
        </p:nvPicPr>
        <p:blipFill>
          <a:blip r:embed="rId2"/>
          <a:stretch/>
        </p:blipFill>
        <p:spPr>
          <a:xfrm>
            <a:off x="571680" y="1781280"/>
            <a:ext cx="11048760" cy="460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3" name="Picture 3" descr="image.png"/>
          <p:cNvPicPr/>
          <p:nvPr/>
        </p:nvPicPr>
        <p:blipFill>
          <a:blip r:embed="rId3"/>
          <a:stretch/>
        </p:blipFill>
        <p:spPr>
          <a:xfrm>
            <a:off x="866880" y="2933640"/>
            <a:ext cx="10458000" cy="238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" name="Picture 4" descr="image.png"/>
          <p:cNvPicPr/>
          <p:nvPr/>
        </p:nvPicPr>
        <p:blipFill>
          <a:blip r:embed="rId4"/>
          <a:stretch/>
        </p:blipFill>
        <p:spPr>
          <a:xfrm>
            <a:off x="866880" y="2076480"/>
            <a:ext cx="666360" cy="66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Picture 5" descr="image.png"/>
          <p:cNvPicPr/>
          <p:nvPr/>
        </p:nvPicPr>
        <p:blipFill>
          <a:blip r:embed="rId5"/>
          <a:stretch/>
        </p:blipFill>
        <p:spPr>
          <a:xfrm>
            <a:off x="571680" y="476280"/>
            <a:ext cx="160920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Box 6"/>
          <p:cNvSpPr/>
          <p:nvPr/>
        </p:nvSpPr>
        <p:spPr>
          <a:xfrm>
            <a:off x="571680" y="819000"/>
            <a:ext cx="116010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Member Work: Yousef Mohamed Al-Sayed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7"/>
          <p:cNvSpPr/>
          <p:nvPr/>
        </p:nvSpPr>
        <p:spPr>
          <a:xfrm>
            <a:off x="6572160" y="5924520"/>
            <a:ext cx="47527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i="1" u="none" strike="noStrike">
                <a:solidFill>
                  <a:srgbClr val="64748B"/>
                </a:solidFill>
                <a:effectLst/>
                <a:uFillTx/>
                <a:latin typeface="Inter"/>
              </a:rPr>
              <a:t> Discusses: External Interrupts (INT0/INT1), LED Indicators &amp; Vehicle Sensing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8"/>
          <p:cNvSpPr/>
          <p:nvPr/>
        </p:nvSpPr>
        <p:spPr>
          <a:xfrm>
            <a:off x="1409760" y="3181320"/>
            <a:ext cx="966744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oppins SemiBold"/>
              </a:rPr>
              <a:t>Key Project Contributions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9"/>
          <p:cNvSpPr/>
          <p:nvPr/>
        </p:nvSpPr>
        <p:spPr>
          <a:xfrm>
            <a:off x="1724040" y="2133720"/>
            <a:ext cx="49903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Yousef Mohamed Al-Sayed Abohashem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0"/>
          <p:cNvSpPr/>
          <p:nvPr/>
        </p:nvSpPr>
        <p:spPr>
          <a:xfrm>
            <a:off x="1724040" y="2505240"/>
            <a:ext cx="47527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0284C7"/>
                </a:solidFill>
                <a:effectLst/>
                <a:uFillTx/>
                <a:latin typeface="Inter SemiBold"/>
              </a:rPr>
              <a:t>MCAL / HAL DEVELOPER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Picture 11" descr="image.png"/>
          <p:cNvPicPr/>
          <p:nvPr/>
        </p:nvPicPr>
        <p:blipFill>
          <a:blip r:embed="rId6"/>
          <a:stretch/>
        </p:blipFill>
        <p:spPr>
          <a:xfrm>
            <a:off x="1114560" y="3233880"/>
            <a:ext cx="180720" cy="20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Box 12"/>
          <p:cNvSpPr/>
          <p:nvPr/>
        </p:nvSpPr>
        <p:spPr>
          <a:xfrm>
            <a:off x="1380960" y="3638520"/>
            <a:ext cx="9696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EXTI Driver: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Configured External Interrupts (INT0, INT1) for instant vehicle detection without blocking MCU execution.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13"/>
          <p:cNvSpPr/>
          <p:nvPr/>
        </p:nvSpPr>
        <p:spPr>
          <a:xfrm>
            <a:off x="1380960" y="3995640"/>
            <a:ext cx="9696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LED Driver: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Developed visual status indicators (Green for Space Available, Red for Parking Full).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14"/>
          <p:cNvSpPr/>
          <p:nvPr/>
        </p:nvSpPr>
        <p:spPr>
          <a:xfrm>
            <a:off x="1380960" y="4352760"/>
            <a:ext cx="9696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APP Layer Support: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Assisted in vehicle entry/exit counter calculations &amp; condition checking.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15"/>
          <p:cNvSpPr/>
          <p:nvPr/>
        </p:nvSpPr>
        <p:spPr>
          <a:xfrm>
            <a:off x="1380960" y="4710240"/>
            <a:ext cx="9696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Hardware Simulation: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Validated interrupt edge triggers and LED state toggles in Proteus.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6" name="Picture 16" descr="image.png"/>
          <p:cNvPicPr/>
          <p:nvPr/>
        </p:nvPicPr>
        <p:blipFill>
          <a:blip r:embed="rId7"/>
          <a:stretch/>
        </p:blipFill>
        <p:spPr>
          <a:xfrm>
            <a:off x="1114560" y="3657600"/>
            <a:ext cx="11412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Picture 17" descr="image.png"/>
          <p:cNvPicPr/>
          <p:nvPr/>
        </p:nvPicPr>
        <p:blipFill>
          <a:blip r:embed="rId8"/>
          <a:stretch/>
        </p:blipFill>
        <p:spPr>
          <a:xfrm>
            <a:off x="1114560" y="4014720"/>
            <a:ext cx="11412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" name="Picture 18" descr="image.png"/>
          <p:cNvPicPr/>
          <p:nvPr/>
        </p:nvPicPr>
        <p:blipFill>
          <a:blip r:embed="rId9"/>
          <a:stretch/>
        </p:blipFill>
        <p:spPr>
          <a:xfrm>
            <a:off x="1114560" y="4371840"/>
            <a:ext cx="11412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9" name="Picture 19" descr="image.png"/>
          <p:cNvPicPr/>
          <p:nvPr/>
        </p:nvPicPr>
        <p:blipFill>
          <a:blip r:embed="rId10"/>
          <a:stretch/>
        </p:blipFill>
        <p:spPr>
          <a:xfrm>
            <a:off x="1114560" y="4729320"/>
            <a:ext cx="114120" cy="142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Picture 2" descr="image.png"/>
          <p:cNvPicPr/>
          <p:nvPr/>
        </p:nvPicPr>
        <p:blipFill>
          <a:blip r:embed="rId2"/>
          <a:stretch/>
        </p:blipFill>
        <p:spPr>
          <a:xfrm>
            <a:off x="571680" y="1781280"/>
            <a:ext cx="11048760" cy="460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Picture 3" descr="image.png"/>
          <p:cNvPicPr/>
          <p:nvPr/>
        </p:nvPicPr>
        <p:blipFill>
          <a:blip r:embed="rId3"/>
          <a:stretch/>
        </p:blipFill>
        <p:spPr>
          <a:xfrm>
            <a:off x="866880" y="2835000"/>
            <a:ext cx="10458000" cy="238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Picture 4" descr="image.png"/>
          <p:cNvPicPr/>
          <p:nvPr/>
        </p:nvPicPr>
        <p:blipFill>
          <a:blip r:embed="rId4"/>
          <a:stretch/>
        </p:blipFill>
        <p:spPr>
          <a:xfrm>
            <a:off x="866880" y="2076480"/>
            <a:ext cx="666360" cy="66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Picture 5" descr="image.png"/>
          <p:cNvPicPr/>
          <p:nvPr/>
        </p:nvPicPr>
        <p:blipFill>
          <a:blip r:embed="rId5"/>
          <a:stretch/>
        </p:blipFill>
        <p:spPr>
          <a:xfrm>
            <a:off x="571680" y="476280"/>
            <a:ext cx="160920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Box 6"/>
          <p:cNvSpPr/>
          <p:nvPr/>
        </p:nvSpPr>
        <p:spPr>
          <a:xfrm>
            <a:off x="571680" y="819000"/>
            <a:ext cx="116010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Member Work: Omar Hamdy Hamed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7"/>
          <p:cNvSpPr/>
          <p:nvPr/>
        </p:nvSpPr>
        <p:spPr>
          <a:xfrm>
            <a:off x="7172280" y="5924520"/>
            <a:ext cx="41526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i="1" u="none" strike="noStrike">
                <a:solidFill>
                  <a:srgbClr val="64748B"/>
                </a:solidFill>
                <a:effectLst/>
                <a:uFillTx/>
                <a:latin typeface="Inter"/>
              </a:rPr>
              <a:t> Discusses: LCD Display Interface &amp; Real-time UART Event Logging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8"/>
          <p:cNvSpPr/>
          <p:nvPr/>
        </p:nvSpPr>
        <p:spPr>
          <a:xfrm>
            <a:off x="1600200" y="3293280"/>
            <a:ext cx="947700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oppins SemiBold"/>
              </a:rPr>
              <a:t>Key Project Contributions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9"/>
          <p:cNvSpPr/>
          <p:nvPr/>
        </p:nvSpPr>
        <p:spPr>
          <a:xfrm>
            <a:off x="1724040" y="2133720"/>
            <a:ext cx="44200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Omar Hamdy Hamed Abdelrahman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0"/>
          <p:cNvSpPr/>
          <p:nvPr/>
        </p:nvSpPr>
        <p:spPr>
          <a:xfrm>
            <a:off x="1724040" y="2505240"/>
            <a:ext cx="42098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0284C7"/>
                </a:solidFill>
                <a:effectLst/>
                <a:uFillTx/>
                <a:latin typeface="Inter SemiBold"/>
              </a:rPr>
              <a:t>HAL &amp; COMMUNICATION DEVELOPER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Picture 11" descr="image.png"/>
          <p:cNvPicPr/>
          <p:nvPr/>
        </p:nvPicPr>
        <p:blipFill>
          <a:blip r:embed="rId6"/>
          <a:stretch/>
        </p:blipFill>
        <p:spPr>
          <a:xfrm>
            <a:off x="1105560" y="3339360"/>
            <a:ext cx="237600" cy="20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TextBox 13"/>
          <p:cNvSpPr/>
          <p:nvPr/>
        </p:nvSpPr>
        <p:spPr>
          <a:xfrm>
            <a:off x="1380960" y="3995640"/>
            <a:ext cx="9696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UART Driver: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Implemented serial communication driver to transmit real-time system log events to Virtual Terminal.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14"/>
          <p:cNvSpPr/>
          <p:nvPr/>
        </p:nvSpPr>
        <p:spPr>
          <a:xfrm>
            <a:off x="1380960" y="4352760"/>
            <a:ext cx="9696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Event Logging: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Configured event strings (e.g., "ENTRY GATE OPENED", "PARKING FULL").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15"/>
          <p:cNvSpPr/>
          <p:nvPr/>
        </p:nvSpPr>
        <p:spPr>
          <a:xfrm>
            <a:off x="1380960" y="4710240"/>
            <a:ext cx="9696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Presentation: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Co-created presentation materials and system documentation.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" name="Picture 17" descr="image.png"/>
          <p:cNvPicPr/>
          <p:nvPr/>
        </p:nvPicPr>
        <p:blipFill>
          <a:blip r:embed="rId7"/>
          <a:stretch/>
        </p:blipFill>
        <p:spPr>
          <a:xfrm>
            <a:off x="1114560" y="4014720"/>
            <a:ext cx="11412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" name="Picture 18" descr="image.png"/>
          <p:cNvPicPr/>
          <p:nvPr/>
        </p:nvPicPr>
        <p:blipFill>
          <a:blip r:embed="rId8"/>
          <a:stretch/>
        </p:blipFill>
        <p:spPr>
          <a:xfrm>
            <a:off x="1114560" y="4371840"/>
            <a:ext cx="11412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6" name="Picture 19" descr="image.png"/>
          <p:cNvPicPr/>
          <p:nvPr/>
        </p:nvPicPr>
        <p:blipFill>
          <a:blip r:embed="rId9"/>
          <a:stretch/>
        </p:blipFill>
        <p:spPr>
          <a:xfrm>
            <a:off x="1114560" y="4729320"/>
            <a:ext cx="114120" cy="142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8" name="Picture 2" descr="image.png"/>
          <p:cNvPicPr/>
          <p:nvPr/>
        </p:nvPicPr>
        <p:blipFill>
          <a:blip r:embed="rId2"/>
          <a:stretch/>
        </p:blipFill>
        <p:spPr>
          <a:xfrm>
            <a:off x="571680" y="1781280"/>
            <a:ext cx="11048760" cy="460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9" name="Picture 3" descr="image.png"/>
          <p:cNvPicPr/>
          <p:nvPr/>
        </p:nvPicPr>
        <p:blipFill>
          <a:blip r:embed="rId3"/>
          <a:stretch/>
        </p:blipFill>
        <p:spPr>
          <a:xfrm>
            <a:off x="866880" y="2933640"/>
            <a:ext cx="10458000" cy="238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0" name="Picture 4" descr="image.png"/>
          <p:cNvPicPr/>
          <p:nvPr/>
        </p:nvPicPr>
        <p:blipFill>
          <a:blip r:embed="rId4"/>
          <a:stretch/>
        </p:blipFill>
        <p:spPr>
          <a:xfrm>
            <a:off x="866880" y="2076480"/>
            <a:ext cx="666360" cy="66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1" name="Picture 5" descr="image.png"/>
          <p:cNvPicPr/>
          <p:nvPr/>
        </p:nvPicPr>
        <p:blipFill>
          <a:blip r:embed="rId5"/>
          <a:stretch/>
        </p:blipFill>
        <p:spPr>
          <a:xfrm>
            <a:off x="571680" y="476280"/>
            <a:ext cx="160920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TextBox 6"/>
          <p:cNvSpPr/>
          <p:nvPr/>
        </p:nvSpPr>
        <p:spPr>
          <a:xfrm>
            <a:off x="571680" y="819000"/>
            <a:ext cx="116010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Member Work: Omar Alaa Eldin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7"/>
          <p:cNvSpPr/>
          <p:nvPr/>
        </p:nvSpPr>
        <p:spPr>
          <a:xfrm>
            <a:off x="7010280" y="5924520"/>
            <a:ext cx="43146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i="1" u="none" strike="noStrike">
                <a:solidFill>
                  <a:srgbClr val="64748B"/>
                </a:solidFill>
                <a:effectLst/>
                <a:uFillTx/>
                <a:latin typeface="Inter"/>
              </a:rPr>
              <a:t> Discusses: 16-bit Timer1, Fast PWM Generation &amp; Timing Calculations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8"/>
          <p:cNvSpPr/>
          <p:nvPr/>
        </p:nvSpPr>
        <p:spPr>
          <a:xfrm>
            <a:off x="1438200" y="3181320"/>
            <a:ext cx="96390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oppins SemiBold"/>
              </a:rPr>
              <a:t>Key Project Contributions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9"/>
          <p:cNvSpPr/>
          <p:nvPr/>
        </p:nvSpPr>
        <p:spPr>
          <a:xfrm>
            <a:off x="1724040" y="2133720"/>
            <a:ext cx="33699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Omar Alaa Eldin Abdelrady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0"/>
          <p:cNvSpPr/>
          <p:nvPr/>
        </p:nvSpPr>
        <p:spPr>
          <a:xfrm>
            <a:off x="1724040" y="2505240"/>
            <a:ext cx="32094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0284C7"/>
                </a:solidFill>
                <a:effectLst/>
                <a:uFillTx/>
                <a:latin typeface="Inter SemiBold"/>
              </a:rPr>
              <a:t>MCAL DEVELOPER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Picture 11" descr="image.png"/>
          <p:cNvPicPr/>
          <p:nvPr/>
        </p:nvPicPr>
        <p:blipFill>
          <a:blip r:embed="rId6"/>
          <a:stretch/>
        </p:blipFill>
        <p:spPr>
          <a:xfrm>
            <a:off x="1114560" y="3233880"/>
            <a:ext cx="209160" cy="20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TextBox 12"/>
          <p:cNvSpPr/>
          <p:nvPr/>
        </p:nvSpPr>
        <p:spPr>
          <a:xfrm>
            <a:off x="1380960" y="3638520"/>
            <a:ext cx="9696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Timer1 MCAL Driver: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Programmed ATmega32 16-bit Timer1 peripheral in Fast PWM Mode (Mode 14).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3"/>
          <p:cNvSpPr/>
          <p:nvPr/>
        </p:nvSpPr>
        <p:spPr>
          <a:xfrm>
            <a:off x="1380960" y="3995640"/>
            <a:ext cx="9696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PWM Generation: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Generated precise 50Hz PWM signals required for standard servo motor positioning.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4"/>
          <p:cNvSpPr/>
          <p:nvPr/>
        </p:nvSpPr>
        <p:spPr>
          <a:xfrm>
            <a:off x="1380960" y="4352760"/>
            <a:ext cx="9696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Prescaler &amp; ICR1 Setup: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Calculated exact ICR1 top value for 20ms period (50Hz) at 8MHz clock frequency.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5"/>
          <p:cNvSpPr/>
          <p:nvPr/>
        </p:nvSpPr>
        <p:spPr>
          <a:xfrm>
            <a:off x="1380960" y="4710240"/>
            <a:ext cx="9696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Presentation: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Co-created technical slides and hardware timing diagrams.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2" name="Picture 16" descr="image.png"/>
          <p:cNvPicPr/>
          <p:nvPr/>
        </p:nvPicPr>
        <p:blipFill>
          <a:blip r:embed="rId7"/>
          <a:stretch/>
        </p:blipFill>
        <p:spPr>
          <a:xfrm>
            <a:off x="1114560" y="3657600"/>
            <a:ext cx="11412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3" name="Picture 17" descr="image.png"/>
          <p:cNvPicPr/>
          <p:nvPr/>
        </p:nvPicPr>
        <p:blipFill>
          <a:blip r:embed="rId8"/>
          <a:stretch/>
        </p:blipFill>
        <p:spPr>
          <a:xfrm>
            <a:off x="1114560" y="4014720"/>
            <a:ext cx="11412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4" name="Picture 18" descr="image.png"/>
          <p:cNvPicPr/>
          <p:nvPr/>
        </p:nvPicPr>
        <p:blipFill>
          <a:blip r:embed="rId9"/>
          <a:stretch/>
        </p:blipFill>
        <p:spPr>
          <a:xfrm>
            <a:off x="1114560" y="4371840"/>
            <a:ext cx="11412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5" name="Picture 19" descr="image.png"/>
          <p:cNvPicPr/>
          <p:nvPr/>
        </p:nvPicPr>
        <p:blipFill>
          <a:blip r:embed="rId10"/>
          <a:stretch/>
        </p:blipFill>
        <p:spPr>
          <a:xfrm>
            <a:off x="1114560" y="4729320"/>
            <a:ext cx="114120" cy="142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7" name="Picture 2" descr="image.png"/>
          <p:cNvPicPr/>
          <p:nvPr/>
        </p:nvPicPr>
        <p:blipFill>
          <a:blip r:embed="rId2"/>
          <a:stretch/>
        </p:blipFill>
        <p:spPr>
          <a:xfrm>
            <a:off x="571680" y="1781280"/>
            <a:ext cx="11048760" cy="460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Picture 3" descr="image.png"/>
          <p:cNvPicPr/>
          <p:nvPr/>
        </p:nvPicPr>
        <p:blipFill>
          <a:blip r:embed="rId3"/>
          <a:stretch/>
        </p:blipFill>
        <p:spPr>
          <a:xfrm>
            <a:off x="866880" y="2933640"/>
            <a:ext cx="10458000" cy="238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9" name="Picture 4" descr="image.png"/>
          <p:cNvPicPr/>
          <p:nvPr/>
        </p:nvPicPr>
        <p:blipFill>
          <a:blip r:embed="rId4"/>
          <a:stretch/>
        </p:blipFill>
        <p:spPr>
          <a:xfrm>
            <a:off x="866880" y="2076480"/>
            <a:ext cx="666360" cy="66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Picture 5" descr="image.png"/>
          <p:cNvPicPr/>
          <p:nvPr/>
        </p:nvPicPr>
        <p:blipFill>
          <a:blip r:embed="rId5"/>
          <a:stretch/>
        </p:blipFill>
        <p:spPr>
          <a:xfrm>
            <a:off x="571680" y="476280"/>
            <a:ext cx="160920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Box 6"/>
          <p:cNvSpPr/>
          <p:nvPr/>
        </p:nvSpPr>
        <p:spPr>
          <a:xfrm>
            <a:off x="571680" y="819000"/>
            <a:ext cx="116010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55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Member Work: Mina Ramy Rizk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7"/>
          <p:cNvSpPr/>
          <p:nvPr/>
        </p:nvSpPr>
        <p:spPr>
          <a:xfrm>
            <a:off x="7058160" y="5924520"/>
            <a:ext cx="42667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i="1" u="none" strike="noStrike">
                <a:solidFill>
                  <a:srgbClr val="64748B"/>
                </a:solidFill>
                <a:effectLst/>
                <a:uFillTx/>
                <a:latin typeface="Inter"/>
              </a:rPr>
              <a:t> Discusses: SG90 Servo Actuation &amp; Gate Angle Duty Cycle Mapping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8"/>
          <p:cNvSpPr/>
          <p:nvPr/>
        </p:nvSpPr>
        <p:spPr>
          <a:xfrm>
            <a:off x="1438200" y="3181320"/>
            <a:ext cx="963900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650" b="0" u="none" strike="noStrike">
                <a:solidFill>
                  <a:srgbClr val="0F172A"/>
                </a:solidFill>
                <a:effectLst/>
                <a:uFillTx/>
                <a:latin typeface="Poppins SemiBold"/>
              </a:rPr>
              <a:t>Key Project Contributions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9"/>
          <p:cNvSpPr/>
          <p:nvPr/>
        </p:nvSpPr>
        <p:spPr>
          <a:xfrm>
            <a:off x="1724040" y="2133720"/>
            <a:ext cx="33051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Mina Ramy Rizk Youssef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0"/>
          <p:cNvSpPr/>
          <p:nvPr/>
        </p:nvSpPr>
        <p:spPr>
          <a:xfrm>
            <a:off x="1724040" y="2505240"/>
            <a:ext cx="314748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0284C7"/>
                </a:solidFill>
                <a:effectLst/>
                <a:uFillTx/>
                <a:latin typeface="Inter SemiBold"/>
              </a:rPr>
              <a:t>HAL DEVELOPER &amp; SIMULATION ENGINEER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6" name="Picture 11" descr="image.png"/>
          <p:cNvPicPr/>
          <p:nvPr/>
        </p:nvPicPr>
        <p:blipFill>
          <a:blip r:embed="rId6"/>
          <a:stretch/>
        </p:blipFill>
        <p:spPr>
          <a:xfrm>
            <a:off x="1114560" y="3233880"/>
            <a:ext cx="209160" cy="20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TextBox 12"/>
          <p:cNvSpPr/>
          <p:nvPr/>
        </p:nvSpPr>
        <p:spPr>
          <a:xfrm>
            <a:off x="1380960" y="3638520"/>
            <a:ext cx="9696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Servo Motor HAL Driver: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Created high-level API functions SERVO_voidSetAngle() mapping 0° to 180° angles.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3"/>
          <p:cNvSpPr/>
          <p:nvPr/>
        </p:nvSpPr>
        <p:spPr>
          <a:xfrm>
            <a:off x="1380960" y="3995640"/>
            <a:ext cx="9696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Gate Motion Logic: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Calibrated Duty Cycle pulse widths (1ms for 0° closed, 1.5ms for 90° open).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4"/>
          <p:cNvSpPr/>
          <p:nvPr/>
        </p:nvSpPr>
        <p:spPr>
          <a:xfrm>
            <a:off x="1380960" y="4352760"/>
            <a:ext cx="9696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Proteus Simulation: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Designed and tested servo motor response during entry and exit gate routines.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15"/>
          <p:cNvSpPr/>
          <p:nvPr/>
        </p:nvSpPr>
        <p:spPr>
          <a:xfrm>
            <a:off x="1380960" y="4710240"/>
            <a:ext cx="9696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Presentation: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Contributed to presentation visual materials and system demonstration.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1" name="Picture 16" descr="image.png"/>
          <p:cNvPicPr/>
          <p:nvPr/>
        </p:nvPicPr>
        <p:blipFill>
          <a:blip r:embed="rId7"/>
          <a:stretch/>
        </p:blipFill>
        <p:spPr>
          <a:xfrm>
            <a:off x="1114560" y="3657600"/>
            <a:ext cx="11412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Picture 17" descr="image.png"/>
          <p:cNvPicPr/>
          <p:nvPr/>
        </p:nvPicPr>
        <p:blipFill>
          <a:blip r:embed="rId8"/>
          <a:stretch/>
        </p:blipFill>
        <p:spPr>
          <a:xfrm>
            <a:off x="1114560" y="4014720"/>
            <a:ext cx="11412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3" name="Picture 18" descr="image.png"/>
          <p:cNvPicPr/>
          <p:nvPr/>
        </p:nvPicPr>
        <p:blipFill>
          <a:blip r:embed="rId9"/>
          <a:stretch/>
        </p:blipFill>
        <p:spPr>
          <a:xfrm>
            <a:off x="1114560" y="4371840"/>
            <a:ext cx="114120" cy="14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4" name="Picture 19" descr="image.png"/>
          <p:cNvPicPr/>
          <p:nvPr/>
        </p:nvPicPr>
        <p:blipFill>
          <a:blip r:embed="rId10"/>
          <a:stretch/>
        </p:blipFill>
        <p:spPr>
          <a:xfrm>
            <a:off x="1114560" y="4729320"/>
            <a:ext cx="114120" cy="142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Picture 1" descr="image.png"/>
          <p:cNvPicPr/>
          <p:nvPr/>
        </p:nvPicPr>
        <p:blipFill>
          <a:blip r:embed="rId1"/>
          <a:stretch/>
        </p:blipFill>
        <p:spPr>
          <a:xfrm>
            <a:off x="0" y="36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6" name="Picture 2" descr="image.png"/>
          <p:cNvPicPr/>
          <p:nvPr/>
        </p:nvPicPr>
        <p:blipFill>
          <a:blip r:embed="rId2"/>
          <a:stretch/>
        </p:blipFill>
        <p:spPr>
          <a:xfrm>
            <a:off x="4976640" y="4114800"/>
            <a:ext cx="28548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TextBox 3"/>
          <p:cNvSpPr/>
          <p:nvPr/>
        </p:nvSpPr>
        <p:spPr>
          <a:xfrm>
            <a:off x="4479480" y="4460400"/>
            <a:ext cx="146412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Inter"/>
              </a:rPr>
              <a:t>Embedded_Elite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8" name="Picture 4" descr="image.png"/>
          <p:cNvPicPr/>
          <p:nvPr/>
        </p:nvPicPr>
        <p:blipFill>
          <a:blip r:embed="rId3"/>
          <a:stretch/>
        </p:blipFill>
        <p:spPr>
          <a:xfrm>
            <a:off x="6981840" y="41148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TextBox 5"/>
          <p:cNvSpPr/>
          <p:nvPr/>
        </p:nvSpPr>
        <p:spPr>
          <a:xfrm>
            <a:off x="6542640" y="4343400"/>
            <a:ext cx="1229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E293B"/>
                </a:solidFill>
                <a:effectLst/>
                <a:uFillTx/>
                <a:latin typeface="Inter"/>
              </a:rPr>
              <a:t>ATmega32 AVR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" name="Picture 6" descr="image.png"/>
          <p:cNvPicPr/>
          <p:nvPr/>
        </p:nvPicPr>
        <p:blipFill>
          <a:blip r:embed="rId4"/>
          <a:stretch/>
        </p:blipFill>
        <p:spPr>
          <a:xfrm>
            <a:off x="5238720" y="1445040"/>
            <a:ext cx="1714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Box 7"/>
          <p:cNvSpPr/>
          <p:nvPr/>
        </p:nvSpPr>
        <p:spPr>
          <a:xfrm>
            <a:off x="4690800" y="1883160"/>
            <a:ext cx="2810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Thank You!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8"/>
          <p:cNvSpPr/>
          <p:nvPr/>
        </p:nvSpPr>
        <p:spPr>
          <a:xfrm>
            <a:off x="2523960" y="2711880"/>
            <a:ext cx="71434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2639"/>
              </a:lnSpc>
            </a:pPr>
            <a:r>
              <a:rPr lang="en-US" sz="16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The </a:t>
            </a:r>
            <a:r>
              <a:rPr lang="en-US" sz="1650" b="1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Automated Parking Lot System</a:t>
            </a:r>
            <a:r>
              <a:rPr lang="en-US" sz="16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 successfully demonstrates modular layered software architecture and real-time embedded control on ATmega32.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9"/>
          <p:cNvSpPr/>
          <p:nvPr/>
        </p:nvSpPr>
        <p:spPr>
          <a:xfrm>
            <a:off x="5024520" y="5184360"/>
            <a:ext cx="2142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284C7"/>
                </a:solidFill>
                <a:effectLst/>
                <a:uFillTx/>
                <a:latin typeface="Inter SemiBold"/>
              </a:rPr>
              <a:t>Questions &amp; Discussion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2026-08-04T00:01:36Z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